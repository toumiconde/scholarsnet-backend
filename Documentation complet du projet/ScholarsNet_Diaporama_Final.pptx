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6400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"/>
            <a:ext cx="2743200" cy="27432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548640"/>
            <a:ext cx="1645920" cy="1645920"/>
          </a:xfrm>
          <a:prstGeom prst="ellipse">
            <a:avLst/>
          </a:prstGeom>
          <a:solidFill>
            <a:srgbClr val="5BA3D9">
              <a:alpha val="35000"/>
            </a:srgbClr>
          </a:solidFill>
          <a:ln w="12700">
            <a:solidFill>
              <a:srgbClr val="5BA3D9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3D9"/>
                </a:solidFill>
              </a:rPr>
              <a:t>PROJET 3 — SOUTENANCE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ScholarsNet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A3D9"/>
                </a:solidFill>
              </a:rPr>
              <a:t>Réseau Social Académique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Stack : 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</a:rPr>
              <a:t>MongoDB · Node.js · Express.js · React.js (MERN)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Volume : 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</a:rPr>
              <a:t>1 050+ publications · 30+ chercheurs · 25 projets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Auth : 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</a:rPr>
              <a:t>JWT + Bcrypt · Rôles admin/chercheur · Middleware protect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Toumany Billy Condé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A3D9"/>
                </a:solidFill>
              </a:rPr>
              <a:t>UGANC — Département Informatique —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 de la présentation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06240" cy="685800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52144"/>
            <a:ext cx="402336" cy="402336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52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0058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Contexte &amp; Objectifs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01368"/>
            <a:ext cx="4206240" cy="6858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94767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80136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Architecture technique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4206240" cy="685800"/>
          </a:xfrm>
          <a:prstGeom prst="rect">
            <a:avLst/>
          </a:prstGeom>
          <a:solidFill>
            <a:srgbClr val="7030A0">
              <a:alpha val="10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743200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743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59689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Authentification &amp; Sécurité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392424"/>
            <a:ext cx="4206240" cy="685800"/>
          </a:xfrm>
          <a:prstGeom prst="rect">
            <a:avLst/>
          </a:prstGeom>
          <a:solidFill>
            <a:srgbClr val="ED7D31">
              <a:alpha val="1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538728"/>
            <a:ext cx="402336" cy="40233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538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39242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Gestion des utilisateurs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4206240" cy="685800"/>
          </a:xfrm>
          <a:prstGeom prst="rect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334256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18795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Modélisation MongoDB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4206240" cy="685800"/>
          </a:xfrm>
          <a:prstGeom prst="rect">
            <a:avLst/>
          </a:prstGeom>
          <a:solidFill>
            <a:srgbClr val="ED7D31">
              <a:alpha val="1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152144"/>
            <a:ext cx="402336" cy="40233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152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10058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Comparaison SQL / MongoDB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801368"/>
            <a:ext cx="4206240" cy="685800"/>
          </a:xfrm>
          <a:prstGeom prst="rect">
            <a:avLst/>
          </a:prstGeom>
          <a:solidFill>
            <a:srgbClr val="375623">
              <a:alpha val="1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1947672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80136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Pipelines d'agrégation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2596896"/>
            <a:ext cx="4206240" cy="6858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274320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7432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259689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Interface &amp; Fonctionnalités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392424"/>
            <a:ext cx="4206240" cy="685800"/>
          </a:xfrm>
          <a:prstGeom prst="rect">
            <a:avLst/>
          </a:prstGeom>
          <a:solidFill>
            <a:srgbClr val="7030A0">
              <a:alpha val="10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3538728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538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39242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Jeux de données &amp; KPI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4187952"/>
            <a:ext cx="4206240" cy="685800"/>
          </a:xfrm>
          <a:prstGeom prst="rect">
            <a:avLst/>
          </a:prstGeom>
          <a:solidFill>
            <a:srgbClr val="70AD47">
              <a:alpha val="1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4334256"/>
            <a:ext cx="402336" cy="402336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418795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Résultats &amp; Perspectives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· Contexte &amp; Objectifs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A3D9"/>
                </a:solidFill>
              </a:rPr>
              <a:t>ScholarsNet répond à un besoin concret de l'UGANC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594360"/>
          </a:xfrm>
          <a:prstGeom prst="rect">
            <a:avLst/>
          </a:prstGeom>
          <a:solidFill>
            <a:srgbClr val="2E75B6">
              <a:alpha val="10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72768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Console admin sécurisée avec déverrouillage UI dynamique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859536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768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Auto-provisionnement d'admins avec UID unique (ADMxxx/CHRxxx)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8595360" cy="594360"/>
          </a:xfrm>
          <a:prstGeom prst="rect">
            <a:avLst/>
          </a:prstGeom>
          <a:solidFill>
            <a:srgbClr val="70AD47">
              <a:alpha val="10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80944"/>
            <a:ext cx="384048" cy="38404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Gestion complète des utilisateurs : création, activation, suspension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575304"/>
            <a:ext cx="8595360" cy="594360"/>
          </a:xfrm>
          <a:prstGeom prst="rect">
            <a:avLst/>
          </a:prstGeom>
          <a:solidFill>
            <a:srgbClr val="ED7D31">
              <a:alpha val="10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85032"/>
            <a:ext cx="384048" cy="38404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57530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Sécurisation des comptes suspendus (blocage login + reset pwd)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389120"/>
            <a:ext cx="384048" cy="384048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27939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1 050+ publications &amp; 25 projets pour alimenter les KPI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4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· Architecture technique — Stack MERN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5603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PRÉSENTATION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1005840"/>
            <a:ext cx="5943600" cy="1005840"/>
          </a:xfrm>
          <a:prstGeom prst="rect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6070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React.js + Vite · Port 5173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48132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Accueil · Recherche · Profil · Stats Labo · Réseau · Admin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0482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0A0"/>
                </a:solidFill>
              </a:rPr>
              <a:t>↕  REST API — JSON — Axios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2560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402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LOGIQUE MÉTIER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240280"/>
            <a:ext cx="5943600" cy="100584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29514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Node.js + Express.js · Port 3000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71576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/api/auth · /api/chercheurs · /api/publications · /api/stats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2826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0A0"/>
                </a:solidFill>
              </a:rPr>
              <a:t>↕  Mongoose ODM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2560320" cy="10058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PERSISTANCE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3474720"/>
            <a:ext cx="5943600" cy="1005840"/>
          </a:xfrm>
          <a:prstGeom prst="rect">
            <a:avLst/>
          </a:prstGeom>
          <a:solidFill>
            <a:srgbClr val="375623">
              <a:alpha val="1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52958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623"/>
                </a:solidFill>
              </a:rPr>
              <a:t>MongoDB 7.x · Port 27017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17520" y="395020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chercheurs (30+) · publications (1 050+) · projets (25+)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2011680" cy="256032"/>
          </a:xfrm>
          <a:prstGeom prst="rect">
            <a:avLst/>
          </a:prstGeom>
          <a:solidFill>
            <a:srgbClr val="375623">
              <a:alpha val="15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526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</a:rPr>
              <a:t>MongoDB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4526280"/>
            <a:ext cx="2011680" cy="256032"/>
          </a:xfrm>
          <a:prstGeom prst="rect">
            <a:avLst/>
          </a:prstGeom>
          <a:solidFill>
            <a:srgbClr val="1A3C6E">
              <a:alpha val="15000"/>
            </a:srgbClr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4526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6E"/>
                </a:solidFill>
              </a:rPr>
              <a:t>Express.js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26864" y="4526280"/>
            <a:ext cx="2011680" cy="256032"/>
          </a:xfrm>
          <a:prstGeom prst="rect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4526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D9"/>
                </a:solidFill>
              </a:rPr>
              <a:t>React.js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4526280"/>
            <a:ext cx="2011680" cy="256032"/>
          </a:xfrm>
          <a:prstGeom prst="rect">
            <a:avLst/>
          </a:prstGeom>
          <a:solidFill>
            <a:srgbClr val="70AD47">
              <a:alpha val="15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4526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</a:rPr>
              <a:t>Node.js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800600"/>
            <a:ext cx="2011680" cy="256032"/>
          </a:xfrm>
          <a:prstGeom prst="rect">
            <a:avLst/>
          </a:prstGeom>
          <a:solidFill>
            <a:srgbClr val="ED7D31">
              <a:alpha val="15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00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</a:rPr>
              <a:t>JWT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50592" y="4800600"/>
            <a:ext cx="2011680" cy="256032"/>
          </a:xfrm>
          <a:prstGeom prst="rect">
            <a:avLst/>
          </a:prstGeom>
          <a:solidFill>
            <a:srgbClr val="ED7D31">
              <a:alpha val="15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0592" y="4800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</a:rPr>
              <a:t>Bcrypt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4800600"/>
            <a:ext cx="2011680" cy="25603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4800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Mongoose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03136" y="4800600"/>
            <a:ext cx="2011680" cy="256032"/>
          </a:xfrm>
          <a:prstGeom prst="rect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4800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Vite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· Authentification &amp; Sécurité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Flux d'authentification admin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28800" cy="1005840"/>
          </a:xfrm>
          <a:prstGeom prst="rect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4630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Email saisi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920240"/>
            <a:ext cx="32004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417320"/>
            <a:ext cx="1828800" cy="100584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 /check-role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(debounce 500ms)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920240"/>
            <a:ext cx="32004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417320"/>
            <a:ext cx="1828800" cy="1005840"/>
          </a:xfrm>
          <a:prstGeom prst="rect">
            <a:avLst/>
          </a:prstGeom>
          <a:solidFill>
            <a:srgbClr val="7030A0">
              <a:alpha val="15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463040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Bouton glowing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'Déverrouiller'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920240"/>
            <a:ext cx="32004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417320"/>
            <a:ext cx="1828800" cy="1005840"/>
          </a:xfrm>
          <a:prstGeom prst="rect">
            <a:avLst/>
          </a:prstGeom>
          <a:solidFill>
            <a:srgbClr val="70AD47">
              <a:alpha val="15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463040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JWT généré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{uid, role}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26334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Mesures de sécurité 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017520"/>
            <a:ext cx="4206240" cy="685800"/>
          </a:xfrm>
          <a:prstGeom prst="rect">
            <a:avLst/>
          </a:prstGeom>
          <a:solidFill>
            <a:srgbClr val="ED7D31">
              <a:alpha val="10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solidFill>
            <a:srgbClr val="ED7D31">
              <a:alpha val="7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Compte suspendu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Blocage login ET reset password (403)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22192"/>
            <a:ext cx="4206240" cy="685800"/>
          </a:xfrm>
          <a:prstGeom prst="rect">
            <a:avLst/>
          </a:prstGeom>
          <a:solidFill>
            <a:srgbClr val="028090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822192"/>
            <a:ext cx="1645920" cy="685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82219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Middleware protect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3822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Vérifie JWT + rôle sur chaque endpoint protégé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206240" cy="685800"/>
          </a:xfrm>
          <a:prstGeom prst="rect">
            <a:avLst/>
          </a:prstGeom>
          <a:solidFill>
            <a:srgbClr val="2E75B6">
              <a:alpha val="10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017520"/>
            <a:ext cx="1645920" cy="68580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Bcrypt (saltRounds=10)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Hachage sécurisé de tous les mots de passe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22192"/>
            <a:ext cx="4206240" cy="685800"/>
          </a:xfrm>
          <a:prstGeom prst="rect">
            <a:avLst/>
          </a:prstGeom>
          <a:solidFill>
            <a:srgbClr val="70AD47">
              <a:alpha val="10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822192"/>
            <a:ext cx="1645920" cy="685800"/>
          </a:xfrm>
          <a:prstGeom prst="rect">
            <a:avLst/>
          </a:prstGeom>
          <a:solidFill>
            <a:srgbClr val="70AD47">
              <a:alpha val="7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2219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3822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Chaque action admin génère une Notification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6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· Gestion des utilisateurs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2E75B6">
              <a:alpha val="9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060704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Créer un compte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4630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Admin ou Chercheur · UID auto-généré (ADMxxx / CHRxxx)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206240" cy="1097280"/>
          </a:xfrm>
          <a:prstGeom prst="rect">
            <a:avLst/>
          </a:prstGeom>
          <a:solidFill>
            <a:srgbClr val="70AD47">
              <a:alpha val="9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15184"/>
            <a:ext cx="438912" cy="43891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322576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Activer / Suspendre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724912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Toggle actif via PUT /chercheurs/:uid · Feedback immédiat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206240" cy="1097280"/>
          </a:xfrm>
          <a:prstGeom prst="rect">
            <a:avLst/>
          </a:prstGeom>
          <a:solidFill>
            <a:srgbClr val="ED7D31">
              <a:alpha val="9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77056"/>
            <a:ext cx="438912" cy="43891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584448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Reset mot de passe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986784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Admin-only · POST /auth/admin-reset-password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3533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533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1060704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Filtres &amp; Recherche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146304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Dropdown rôle + texte libre (UID, nom, email)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67712"/>
            <a:ext cx="4206240" cy="1097280"/>
          </a:xfrm>
          <a:prstGeom prst="rect">
            <a:avLst/>
          </a:prstGeom>
          <a:solidFill>
            <a:srgbClr val="C00000">
              <a:alpha val="9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615184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2322576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Compte suspendu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13248" y="2724912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Bloqué à la connexion ET à la réinitialisation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9584"/>
            <a:ext cx="4206240" cy="1097280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7705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3584448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</a:rPr>
              <a:t>Masque auto-destruction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3986784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Bouton supprimer caché pour l'admin connecté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7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· Modélisation MongoDB — 3 collections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283464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chercheurs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051560"/>
            <a:ext cx="658368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515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444752"/>
            <a:ext cx="2834640" cy="3383280"/>
          </a:xfrm>
          <a:prstGeom prst="rect">
            <a:avLst/>
          </a:prstGeom>
          <a:solidFill>
            <a:srgbClr val="2E75B6">
              <a:alpha val="7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179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uid, nom, prenom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1947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email (index unique)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laboratoire (index)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grade (Enum 3 valeurs)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32369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domaines_recherche [ 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langues [ 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096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actif (Boolean)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526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role (chercheur/admin)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1005840"/>
            <a:ext cx="28346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005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76088" y="1051560"/>
            <a:ext cx="658368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10515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1 050+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1444752"/>
            <a:ext cx="2834640" cy="3383280"/>
          </a:xfrm>
          <a:prstGeom prst="rect">
            <a:avLst/>
          </a:prstGeom>
          <a:solidFill>
            <a:srgbClr val="028090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5179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pid, titre, annee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1947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type (Enum 5 valeurs)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64408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auteurs [ {uid,nom,ordre} ]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64408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mots_cles [ ] — index text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32369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citations [ ] de pid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64408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statut (publie/brouillon)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64408" y="4096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+ champs spécifiques / type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63056" y="1005840"/>
            <a:ext cx="2834640" cy="43891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005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66176" y="1051560"/>
            <a:ext cx="658368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10515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63056" y="1444752"/>
            <a:ext cx="2834640" cy="3383280"/>
          </a:xfrm>
          <a:prstGeom prst="rect">
            <a:avLst/>
          </a:prstGeom>
          <a:solidFill>
            <a:srgbClr val="375623">
              <a:alpha val="7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5179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nom, description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1947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date_debut / date_fin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54496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statut (Enum 4 valeurs)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54496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responsable_uid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54496" y="32369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membres [ uid 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54496" y="36667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financeur, budget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54496" y="4096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• publications_associees [ 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8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· Comparaison SQL vs MongoDB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34640" y="987552"/>
            <a:ext cx="274320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(PostgreSQL)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987552"/>
            <a:ext cx="3200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987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417320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417320"/>
            <a:ext cx="27432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417320"/>
            <a:ext cx="32004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1732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Auteurs multiples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14173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Table jointure + N JOIN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417320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✓ Tableau embarqué · $unwind natif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002536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002536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002536"/>
            <a:ext cx="3200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0253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Métadonnées variables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80360" y="2002536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Colonnes NULL ou EAV pattern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002536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✓ Champs optionnels par 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587752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2587752"/>
            <a:ext cx="27432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2587752"/>
            <a:ext cx="32004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587752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Requête co-auteurs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80360" y="2587752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4 tables · 4 JOIN minimum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587752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✓ 1 collection · 0 JOIN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172968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34640" y="3172968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172968"/>
            <a:ext cx="3200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172968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Import JSON DBLP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0360" y="31729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Parsing + mapping + INSERT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3172968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✓ mongoimport direct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3758184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3758184"/>
            <a:ext cx="27432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3758184"/>
            <a:ext cx="3200400" cy="512064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758184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Scalabilité horiz.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80360" y="3758184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Sharding complexe et manuel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37581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✓ Sharding natif intégré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2880" y="4343400"/>
            <a:ext cx="2606040" cy="512064"/>
          </a:xfrm>
          <a:prstGeom prst="rect">
            <a:avLst/>
          </a:prstGeom>
          <a:solidFill>
            <a:srgbClr val="1A3C6E">
              <a:alpha val="10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4343400"/>
            <a:ext cx="2743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4343400"/>
            <a:ext cx="3200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34340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Intégrité référentielle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880360" y="434340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</a:rPr>
              <a:t>✗ FK natives et matures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15000" y="4343400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Gérée applicativement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9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07 · Pipelines d'agrégation MongoDB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005840"/>
            <a:ext cx="8046720" cy="713232"/>
          </a:xfrm>
          <a:prstGeom prst="rect">
            <a:avLst/>
          </a:prstGeom>
          <a:solidFill>
            <a:srgbClr val="2E75B6">
              <a:alpha val="9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04241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Réseau de co-auteurs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$match · $unwind · $group (_id composé) · $sort · $limit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09560" y="1188720"/>
            <a:ext cx="960120" cy="3657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1887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99339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1810512"/>
            <a:ext cx="8046720" cy="713232"/>
          </a:xfrm>
          <a:prstGeom prst="rect">
            <a:avLst/>
          </a:prstGeom>
          <a:solidFill>
            <a:srgbClr val="028090">
              <a:alpha val="9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847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Stats laboratoire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762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$unwind · $lookup chercheurs · $match · $group · $sort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1993392"/>
            <a:ext cx="96012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99339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798064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" y="2615184"/>
            <a:ext cx="8046720" cy="713232"/>
          </a:xfrm>
          <a:prstGeom prst="rect">
            <a:avLst/>
          </a:prstGeom>
          <a:solidFill>
            <a:srgbClr val="70AD47">
              <a:alpha val="9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651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Moteur de recherche $regex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980944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$match ($regex insensible casse) · $project · $sort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2798064"/>
            <a:ext cx="960120" cy="3657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79806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602736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" y="3419856"/>
            <a:ext cx="8046720" cy="713232"/>
          </a:xfrm>
          <a:prstGeom prst="rect">
            <a:avLst/>
          </a:prstGeom>
          <a:solidFill>
            <a:srgbClr val="ED7D31">
              <a:alpha val="9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4564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H-index simplifié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785616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$match · $project $size(citations) · $sort décroissant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09560" y="3602736"/>
            <a:ext cx="960120" cy="36576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360273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inclus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4407408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" y="4224528"/>
            <a:ext cx="8046720" cy="713232"/>
          </a:xfrm>
          <a:prstGeom prst="rect">
            <a:avLst/>
          </a:prstGeom>
          <a:solidFill>
            <a:srgbClr val="7030A0">
              <a:alpha val="9000"/>
            </a:srgbClr>
          </a:solidFill>
          <a:ln w="6350">
            <a:solidFill>
              <a:srgbClr val="703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2611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mots-clés laboratoire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5902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$unwind mots_cles · $group · $sort · $limit 20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09560" y="4407408"/>
            <a:ext cx="96012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440740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inclus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10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08 · Interface &amp; Fonctionnalités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206240" cy="841248"/>
          </a:xfrm>
          <a:prstGeom prst="rect">
            <a:avLst/>
          </a:prstGeom>
          <a:solidFill>
            <a:srgbClr val="2E75B6">
              <a:alpha val="9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07008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0332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Auth JWT + Rôles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4081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Register · Login · Déverrouillage admin · Middleware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4206240" cy="841248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9456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0208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Profil + H-index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395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Calcul automatique via pipeline $size(citations)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4206240" cy="841248"/>
          </a:xfrm>
          <a:prstGeom prst="rect">
            <a:avLst/>
          </a:prstGeom>
          <a:solidFill>
            <a:srgbClr val="70AD47">
              <a:alpha val="9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182112"/>
            <a:ext cx="402336" cy="402336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82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083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Moteur de recherche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3832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$regex titre + mots_cles · Filtres · Pagination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4206240" cy="841248"/>
          </a:xfrm>
          <a:prstGeom prst="rect">
            <a:avLst/>
          </a:prstGeom>
          <a:solidFill>
            <a:srgbClr val="ED7D31">
              <a:alpha val="9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169664"/>
            <a:ext cx="402336" cy="40233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Réseau co-auteurs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3708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Pipeline $unwind + $group · Visualisation Force Graph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987552"/>
            <a:ext cx="4206240" cy="841248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207008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10332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Stats laboratoire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14081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5 pipelines · Graphiques Recharts · KPI temps réel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975104"/>
            <a:ext cx="4206240" cy="841248"/>
          </a:xfrm>
          <a:prstGeom prst="rect">
            <a:avLst/>
          </a:prstGeom>
          <a:solidFill>
            <a:srgbClr val="2E75B6">
              <a:alpha val="9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2194560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0208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Import JSON DBLP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2395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Multer · insertMany · 1 050 documents chargés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962656"/>
            <a:ext cx="4206240" cy="841248"/>
          </a:xfrm>
          <a:prstGeom prst="rect">
            <a:avLst/>
          </a:prstGeom>
          <a:solidFill>
            <a:srgbClr val="028090">
              <a:alpha val="9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1821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182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9240" y="30083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Réactions (emojis)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3832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like · feu · bravo · cœur · pouce · notification auto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950208"/>
            <a:ext cx="4206240" cy="841248"/>
          </a:xfrm>
          <a:prstGeom prst="rect">
            <a:avLst/>
          </a:prstGeom>
          <a:solidFill>
            <a:srgbClr val="375623">
              <a:alpha val="9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4169664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</a:rPr>
              <a:t>Design premium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43708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0A0"/>
                </a:solidFill>
              </a:rPr>
              <a:t>Glassmorphism · Gradients · Micro-animations framer-motion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11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 · Jeux de données &amp; KPI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20240" cy="10972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1 050+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</a:rPr>
              <a:t>Publications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051560"/>
            <a:ext cx="1920240" cy="1097280"/>
          </a:xfrm>
          <a:prstGeom prst="rect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</a:rPr>
              <a:t>30+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317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</a:rPr>
              <a:t>Chercheurs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051560"/>
            <a:ext cx="1920240" cy="1097280"/>
          </a:xfrm>
          <a:prstGeom prst="rect">
            <a:avLst/>
          </a:prstGeom>
          <a:solidFill>
            <a:srgbClr val="375623">
              <a:alpha val="12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5623"/>
                </a:solidFill>
              </a:rPr>
              <a:t>25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891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</a:rPr>
              <a:t>Projets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1051560"/>
            <a:ext cx="1920240" cy="1097280"/>
          </a:xfrm>
          <a:prstGeom prst="rect">
            <a:avLst/>
          </a:prstGeom>
          <a:solidFill>
            <a:srgbClr val="ED7D31">
              <a:alpha val="12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7D31"/>
                </a:solidFill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</a:rPr>
              <a:t>Pipelines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D9"/>
                </a:solidFill>
              </a:rPr>
              <a:t>Scripts de génération 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724912"/>
            <a:ext cx="859536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24912"/>
            <a:ext cx="2103120" cy="59436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seed_publications.js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272491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1 050 publications réalistes (2000-2026) · multi-types · citations · réactions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8595360" cy="594360"/>
          </a:xfrm>
          <a:prstGeom prst="rect">
            <a:avLst/>
          </a:prstGeom>
          <a:solidFill>
            <a:srgbClr val="375623">
              <a:alpha val="10000"/>
            </a:srgbClr>
          </a:solidFill>
          <a:ln w="6350">
            <a:solidFill>
              <a:srgbClr val="375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38144"/>
            <a:ext cx="2103120" cy="594360"/>
          </a:xfrm>
          <a:prstGeom prst="rect">
            <a:avLst/>
          </a:prstGeom>
          <a:solidFill>
            <a:srgbClr val="375623">
              <a:alpha val="6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38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seed_projets.js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43814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25 projets · budgets 10k-100k€ · dates cohérentes · statuts variés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151376"/>
            <a:ext cx="8595360" cy="594360"/>
          </a:xfrm>
          <a:prstGeom prst="rect">
            <a:avLst/>
          </a:prstGeom>
          <a:solidFill>
            <a:srgbClr val="ED7D31">
              <a:alpha val="10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51376"/>
            <a:ext cx="2103120" cy="594360"/>
          </a:xfrm>
          <a:prstGeom prst="rect">
            <a:avLst/>
          </a:prstGeom>
          <a:solidFill>
            <a:srgbClr val="ED7D31">
              <a:alpha val="6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513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createIndexes.js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4151376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8 index MongoDB · auteurs.uid · annee · type · titre text + mots_cles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12 /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· Résultats &amp; Validation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27432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987552"/>
            <a:ext cx="10058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987552"/>
            <a:ext cx="47548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875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9875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9875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Réalisation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274320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389888"/>
            <a:ext cx="100584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389888"/>
            <a:ext cx="475488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3898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Volume 1 000+ publications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13898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4 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0520" y="138988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1 050 documents insérés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883664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1883664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1883664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88366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$unwind sur auteurs (2+)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188366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3 pts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60520" y="188366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Pipeline co-auteurs + stats labo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377440"/>
            <a:ext cx="274320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2377440"/>
            <a:ext cx="100584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2377440"/>
            <a:ext cx="475488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774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Pipelines d'agrégation (4+)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63240" y="23774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4 pts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60520" y="23774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5 pipelines distincts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87121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63240" y="28712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871216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712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Moteur de recherche $regex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63240" y="287121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2 pts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60520" y="287121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Endpoint $regex opérationnel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364992"/>
            <a:ext cx="274320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3364992"/>
            <a:ext cx="100584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0" y="3364992"/>
            <a:ext cx="475488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36499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Application web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063240" y="336499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4 pts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60520" y="336499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6 pages React fonctionnelles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85876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63240" y="3858768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0" y="3858768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587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Rapport écrit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63240" y="385876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4 pts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60520" y="385876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10-15 pages · comparaison SQL/MongoDB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352544"/>
            <a:ext cx="274320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63240" y="4352544"/>
            <a:ext cx="100584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4352544"/>
            <a:ext cx="4754880" cy="438912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3525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Comparaison SQL/MongoDB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063240" y="435254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6E"/>
                </a:solidFill>
              </a:rPr>
              <a:t>3 pts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160520" y="435254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5623"/>
                </a:solidFill>
              </a:rPr>
              <a:t>✓ 4 jointures SQL vs 0 JOIN MongoDB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4818888"/>
            <a:ext cx="2743200" cy="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Projet 3 · UGANC · Mai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0"/>
                </a:solidFill>
              </a:rPr>
              <a:t>13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 · Perspectives d'amélioration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06240" cy="1078992"/>
          </a:xfrm>
          <a:prstGeom prst="rect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420624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07899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Pagination &amp; tri serveur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49961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Pour les grandes tables publications/utilisateurs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4206240" cy="1078992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0604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31343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 CSV / PDF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73405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Export des KPI et statistiques laboratoire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4206240" cy="1078992"/>
          </a:xfrm>
          <a:prstGeom prst="rect">
            <a:avLst/>
          </a:prstGeom>
          <a:solidFill>
            <a:srgbClr val="70AD47">
              <a:alpha val="1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840480"/>
            <a:ext cx="420624" cy="420624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354787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CI/CD automatisé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96849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Jest + Supertest · Tests automatisés · Déploiement continu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1078992"/>
          </a:xfrm>
          <a:prstGeom prst="rect">
            <a:avLst/>
          </a:prstGeom>
          <a:solidFill>
            <a:srgbClr val="ED7D31">
              <a:alpha val="1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371600"/>
            <a:ext cx="420624" cy="42062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76672" y="107899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Documentation Swagger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76672" y="149961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API REST documentée et testable en ligne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258568"/>
            <a:ext cx="4206240" cy="1078992"/>
          </a:xfrm>
          <a:prstGeom prst="rect">
            <a:avLst/>
          </a:prstGeom>
          <a:solidFill>
            <a:srgbClr val="7030A0">
              <a:alpha val="10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606040"/>
            <a:ext cx="420624" cy="42062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76672" y="231343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Rate-limiting &amp; CSP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273405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express-rate-limit · Content Security Policy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206240" cy="1078992"/>
          </a:xfrm>
          <a:prstGeom prst="rect">
            <a:avLst/>
          </a:prstGeom>
          <a:solidFill>
            <a:srgbClr val="5BA3D9">
              <a:alpha val="10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840480"/>
            <a:ext cx="420624" cy="420624"/>
          </a:xfrm>
          <a:prstGeom prst="ellipse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76672" y="3547872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Dockerisation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76672" y="3968496"/>
            <a:ext cx="34930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docker-compose up · Déploiement simplifié et reproductible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6400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Merci pour votre attention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A3D9"/>
                </a:solidFill>
              </a:rPr>
              <a:t>ScholarsNet est maintenant : Sécurisé · Réactif · Scalable · Premium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595360" cy="493776"/>
          </a:xfrm>
          <a:prstGeom prst="rect">
            <a:avLst/>
          </a:prstGeom>
          <a:solidFill>
            <a:srgbClr val="2E75B6">
              <a:alpha val="10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37360"/>
            <a:ext cx="347472" cy="34747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0078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MongoDB élimine 4 JOIN SQL grâce au tableau auteurs embarqué + $unwind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31136"/>
            <a:ext cx="8595360" cy="493776"/>
          </a:xfrm>
          <a:prstGeom prst="rect">
            <a:avLst/>
          </a:prstGeom>
          <a:solidFill>
            <a:srgbClr val="028090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042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6771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 schéma flexible gère 5 types de publications sans colonnes nullables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8595360" cy="493776"/>
          </a:xfrm>
          <a:prstGeom prst="rect">
            <a:avLst/>
          </a:prstGeom>
          <a:solidFill>
            <a:srgbClr val="70AD47">
              <a:alpha val="10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71216"/>
            <a:ext cx="347472" cy="34747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71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83464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+ Bcrypt + Middleware protect sécurisent toutes les routes sensibles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8595360" cy="493776"/>
          </a:xfrm>
          <a:prstGeom prst="rect">
            <a:avLst/>
          </a:prstGeom>
          <a:solidFill>
            <a:srgbClr val="ED7D31">
              <a:alpha val="10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38144"/>
            <a:ext cx="347472" cy="34747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40156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1 050+ publications · 5 pipelines · 6 pages React · Design premium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96512"/>
            <a:ext cx="8595360" cy="548640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9651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Démonstration live  →  Recherche $regex  ·  Profil H-index  ·  Réseau co-auteurs  ·  Stats LARI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0A0"/>
                </a:solidFill>
              </a:rPr>
              <a:t>UGANC · Département Informatique · Toumany Billy Condé · Mai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ScholarsNet — Soutenance Projet 3</dc:title>
  <dc:subject>PptxGenJS Presentation</dc:subject>
  <dc:creator>Toumany Billy Condé</dc:creator>
  <cp:lastModifiedBy>Toumany Billy Condé</cp:lastModifiedBy>
  <cp:revision>1</cp:revision>
  <dcterms:created xsi:type="dcterms:W3CDTF">2026-05-22T12:33:40Z</dcterms:created>
  <dcterms:modified xsi:type="dcterms:W3CDTF">2026-05-22T12:33:40Z</dcterms:modified>
</cp:coreProperties>
</file>